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3D692-A110-02E0-707D-146EB3AFA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6793C-B405-9EA6-1C34-8D19ACC32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C6B66-05D0-273D-8732-695FDD80D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EFFF-E2A8-4A5C-8F5C-5D57EA1647EE}" type="datetimeFigureOut">
              <a:rPr lang="en-SG" smtClean="0"/>
              <a:t>1/5/2026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D4388-B23D-CE07-2ABF-B14CB38F5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F8E76-6C0D-152E-5488-995E0B3F6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A02A1-8BCD-4AFF-AA23-4DBB9308C7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379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5992D-A2EA-E15F-7666-E4FC6FFD2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92185-EBCF-19F8-6E12-1372C28A0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04F10-327B-2A22-606B-34899CF9A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EFFF-E2A8-4A5C-8F5C-5D57EA1647EE}" type="datetimeFigureOut">
              <a:rPr lang="en-SG" smtClean="0"/>
              <a:t>1/5/2026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1354C-6DD9-A57E-80C0-D9B4B314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33C93-AFAD-43A4-366D-254A01CA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A02A1-8BCD-4AFF-AA23-4DBB9308C7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05800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00338-09CE-CDFF-8199-645E6CB8C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86AA4-F073-3812-8B19-89F6E2083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725A8-8326-693C-97F8-8FDF7F24F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EFFF-E2A8-4A5C-8F5C-5D57EA1647EE}" type="datetimeFigureOut">
              <a:rPr lang="en-SG" smtClean="0"/>
              <a:t>1/5/2026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40B3F-1799-AFFC-908F-7606C8A66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7ED0E-FC06-EE27-BE27-BFAAAC254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A02A1-8BCD-4AFF-AA23-4DBB9308C7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4111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ED09C-B6A0-B6B8-4203-F14A1C3F7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6041A-0EA2-DE73-20CB-60BA4ECFF4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68674-A22C-BA0A-86C0-A91897739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6A981-D4D6-CC36-8A13-291B851C0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EFFF-E2A8-4A5C-8F5C-5D57EA1647EE}" type="datetimeFigureOut">
              <a:rPr lang="en-SG" smtClean="0"/>
              <a:t>1/5/2026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B3B69-962A-F045-FE2A-3DB09EAA9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48452-3FD0-0B41-48F6-47326FD24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A02A1-8BCD-4AFF-AA23-4DBB9308C7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9614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23F18-776D-F65A-89A3-FC3BFF8E7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FF34A-D637-1F67-6278-76913D348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23FC2C-4192-F9BC-68F5-A33267BEC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56FA74-F18E-B2DA-C5FA-3F5964C568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4D4A61-D357-E054-4D37-C91761824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4A82DD-3BE2-82E9-B73A-8F984538D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EFFF-E2A8-4A5C-8F5C-5D57EA1647EE}" type="datetimeFigureOut">
              <a:rPr lang="en-SG" smtClean="0"/>
              <a:t>1/5/2026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7322EB-EEEB-F700-2765-9DBDEF4CD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6F66C7-4567-E30C-6F09-43622781B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A02A1-8BCD-4AFF-AA23-4DBB9308C7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2306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5CC9D-2EE8-80CA-CC1F-CB2A5831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08434E-2F5E-EEEA-85B8-96C94A27A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EFFF-E2A8-4A5C-8F5C-5D57EA1647EE}" type="datetimeFigureOut">
              <a:rPr lang="en-SG" smtClean="0"/>
              <a:t>1/5/2026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90D9B-44A6-3E8B-1483-503362354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329076-6CE9-4C9C-8B98-8AB6B264B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A02A1-8BCD-4AFF-AA23-4DBB9308C7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8482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48D0B-E989-0B6F-5D01-CC70CC4A7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EFFF-E2A8-4A5C-8F5C-5D57EA1647EE}" type="datetimeFigureOut">
              <a:rPr lang="en-SG" smtClean="0"/>
              <a:t>1/5/2026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695E84-F651-6FC0-40E2-8BFB6CE19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6C527-0794-F516-D68C-AB37C74E6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A02A1-8BCD-4AFF-AA23-4DBB9308C7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41933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086A0-3127-291B-74E7-8BE4EFD6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34FB7-0F84-D24A-0804-004D09BC6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7DC49-A392-ED73-11BF-9C09C3724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7E8BC-678B-1078-2789-5166F3957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EFFF-E2A8-4A5C-8F5C-5D57EA1647EE}" type="datetimeFigureOut">
              <a:rPr lang="en-SG" smtClean="0"/>
              <a:t>1/5/2026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AF8B7-535D-8CE7-0A0C-B5D4CC1A1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5EA7D-4E54-4945-33A3-4C9A64C06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A02A1-8BCD-4AFF-AA23-4DBB9308C7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8081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E998B-6EE9-09FD-0509-97F821424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055B6F-5553-51DF-0CBD-9FF442442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4A963-F510-A4DE-CFE7-FCF2FFDF2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3F524-0408-D479-7B94-C987BE4C8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EFFF-E2A8-4A5C-8F5C-5D57EA1647EE}" type="datetimeFigureOut">
              <a:rPr lang="en-SG" smtClean="0"/>
              <a:t>1/5/2026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D2E14-2885-287E-F55F-B5E1F42FE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2A4C3-DA42-52CB-461E-B0EC07AA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A02A1-8BCD-4AFF-AA23-4DBB9308C7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0122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4BF32-EE21-DC7A-7825-D18D02DC9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22F8B-A347-AA2B-3157-FB66F75A9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6AFA8-660B-6DD2-C1E1-898E81325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EFFF-E2A8-4A5C-8F5C-5D57EA1647EE}" type="datetimeFigureOut">
              <a:rPr lang="en-SG" smtClean="0"/>
              <a:t>1/5/2026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B4191-42F0-6969-380D-DA210C341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397E5-2880-E9D0-4BAA-364A09E3F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A02A1-8BCD-4AFF-AA23-4DBB9308C7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57219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48A21B-69A2-2E75-E74D-7BB29C17DF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C73EE-1767-5661-89B4-1C6D41B8B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C825D-DB7B-6005-21E9-D1ADC758B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EFFF-E2A8-4A5C-8F5C-5D57EA1647EE}" type="datetimeFigureOut">
              <a:rPr lang="en-SG" smtClean="0"/>
              <a:t>1/5/2026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CB520-29FD-DB2E-278C-FC93E617A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D4E7F-F07F-09CB-B3B0-6CDDB90C9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A02A1-8BCD-4AFF-AA23-4DBB9308C7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2445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9A1A22-BA1C-FB78-BD80-8C4409BB2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77866-C542-8A5F-2413-865D66AFC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AD441-D683-99FD-2072-90B973B77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EDEFFF-E2A8-4A5C-8F5C-5D57EA1647EE}" type="datetimeFigureOut">
              <a:rPr lang="en-SG" smtClean="0"/>
              <a:t>1/5/2026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C5B0A-4F75-1460-CEA1-EEAABFA7CB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6EF03-B404-4616-4504-AFA424687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A02A1-8BCD-4AFF-AA23-4DBB9308C7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5365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1B476-0240-99B3-661D-35ED7A92B1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PRESENTATION TOPIC: HISTORY OF OPERATING SYSTEM</a:t>
            </a:r>
            <a:br>
              <a:rPr lang="en-SG" sz="2400" dirty="0"/>
            </a:br>
            <a:r>
              <a:rPr lang="en-US" sz="1800" b="1" dirty="0"/>
              <a:t>Course Title: Basic English</a:t>
            </a:r>
            <a:br>
              <a:rPr lang="en-SG" sz="1800" b="1" dirty="0"/>
            </a:br>
            <a:r>
              <a:rPr lang="en-US" sz="1800" b="1" dirty="0"/>
              <a:t>Course Code: ICT-1211</a:t>
            </a:r>
            <a:br>
              <a:rPr lang="en-SG" sz="2400" dirty="0"/>
            </a:br>
            <a:endParaRPr lang="en-SG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0EF98F-FBE8-DB63-5DFD-CB1ACCC93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176" y="151141"/>
            <a:ext cx="1657804" cy="140957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52199CF-476D-225E-36A5-7B22B2303C79}"/>
              </a:ext>
            </a:extLst>
          </p:cNvPr>
          <p:cNvSpPr/>
          <p:nvPr/>
        </p:nvSpPr>
        <p:spPr>
          <a:xfrm>
            <a:off x="974949" y="3602038"/>
            <a:ext cx="4345858" cy="28872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Presented By:</a:t>
            </a:r>
            <a:endParaRPr lang="en-SG" dirty="0">
              <a:solidFill>
                <a:schemeClr val="tx1"/>
              </a:solidFill>
            </a:endParaRPr>
          </a:p>
          <a:p>
            <a:r>
              <a:rPr lang="en-US" b="1" dirty="0" err="1">
                <a:solidFill>
                  <a:schemeClr val="tx1"/>
                </a:solidFill>
              </a:rPr>
              <a:t>Mst</a:t>
            </a:r>
            <a:r>
              <a:rPr lang="en-US" b="1" dirty="0">
                <a:solidFill>
                  <a:schemeClr val="tx1"/>
                </a:solidFill>
              </a:rPr>
              <a:t>. Sadia Binta </a:t>
            </a:r>
            <a:r>
              <a:rPr lang="en-US" b="1" dirty="0" err="1">
                <a:solidFill>
                  <a:schemeClr val="tx1"/>
                </a:solidFill>
              </a:rPr>
              <a:t>Sazzad</a:t>
            </a:r>
            <a:endParaRPr lang="en-SG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ID:IT-25027</a:t>
            </a:r>
            <a:endParaRPr lang="en-SG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Department of Information and </a:t>
            </a:r>
            <a:endParaRPr lang="en-SG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communication Technology,</a:t>
            </a:r>
            <a:endParaRPr lang="en-SG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MBSTU</a:t>
            </a:r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F9211F-D7EB-C8E5-4391-CFAD673F9E20}"/>
              </a:ext>
            </a:extLst>
          </p:cNvPr>
          <p:cNvSpPr/>
          <p:nvPr/>
        </p:nvSpPr>
        <p:spPr>
          <a:xfrm>
            <a:off x="6871193" y="3602038"/>
            <a:ext cx="4345858" cy="29560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Supervised By:</a:t>
            </a:r>
            <a:endParaRPr lang="en-SG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Dr. Nazrul Islam</a:t>
            </a:r>
            <a:endParaRPr lang="en-SG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Associate professor;</a:t>
            </a:r>
            <a:endParaRPr lang="en-SG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Department of Information and </a:t>
            </a:r>
            <a:endParaRPr lang="en-SG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communication Technology,</a:t>
            </a:r>
            <a:endParaRPr lang="en-SG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MBSTU</a:t>
            </a:r>
            <a:endParaRPr lang="en-S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962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88527-D17E-B773-305A-74B883490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Introduction </a:t>
            </a:r>
            <a:br>
              <a:rPr lang="en-SG" dirty="0"/>
            </a:b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DDBD80-7FB5-D47B-3E13-7E1B7B686D64}"/>
              </a:ext>
            </a:extLst>
          </p:cNvPr>
          <p:cNvSpPr/>
          <p:nvPr/>
        </p:nvSpPr>
        <p:spPr>
          <a:xfrm>
            <a:off x="838200" y="1869440"/>
            <a:ext cx="6064046" cy="43248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An Operating System (OS) is the core software of a computer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Acts as a bridge between user and hardware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Without OS, a computer cannot function properly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Examples: Windows, Linux, macOS, Android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6EA6C8B-4605-6BA5-58EC-A8C9AFB828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395" y="2280623"/>
            <a:ext cx="5026142" cy="281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42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A734C-47CD-8FA6-520C-6F3547B38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SG" sz="4000" b="1" dirty="0"/>
              <a:t>What is an Operating System</a:t>
            </a:r>
            <a:br>
              <a:rPr lang="en-SG" sz="4000" b="1" dirty="0"/>
            </a:b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68C8DC-6309-7CD1-1C1D-3D3D1DBD0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97853" y="2057400"/>
            <a:ext cx="3742044" cy="3556818"/>
          </a:xfrm>
        </p:spPr>
        <p:txBody>
          <a:bodyPr/>
          <a:lstStyle/>
          <a:p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2430D-7740-929E-757D-D99ED2EF3705}"/>
              </a:ext>
            </a:extLst>
          </p:cNvPr>
          <p:cNvSpPr/>
          <p:nvPr/>
        </p:nvSpPr>
        <p:spPr>
          <a:xfrm>
            <a:off x="839788" y="1730477"/>
            <a:ext cx="8766328" cy="41305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System software that manages hardware resources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Provides an environment to run applications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Controls CPU, memory, and input/output devices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Offers a user interface </a:t>
            </a:r>
            <a:endParaRPr lang="en-SG" dirty="0">
              <a:solidFill>
                <a:schemeClr val="tx1"/>
              </a:solidFill>
            </a:endParaRP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30224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601D1-9C5A-5FF5-4316-AB9C81E3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Early Computers (Before OS)</a:t>
            </a:r>
            <a:br>
              <a:rPr lang="en-SG" dirty="0"/>
            </a:b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E9B3D-5147-C069-9E4E-BF7E2AB62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6D77C8-C1E2-CFC4-3A30-241A3E33497C}"/>
              </a:ext>
            </a:extLst>
          </p:cNvPr>
          <p:cNvSpPr/>
          <p:nvPr/>
        </p:nvSpPr>
        <p:spPr>
          <a:xfrm>
            <a:off x="839788" y="2057399"/>
            <a:ext cx="8333709" cy="43434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1940s–1950s: No Operating System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Programs executed manually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Used punch cards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Only one program could run at a time </a:t>
            </a:r>
            <a:endParaRPr lang="en-S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998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7ADD5-187D-C69E-1D15-B6BD1CC35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Batch Operating Systems (1950s–1960s)</a:t>
            </a:r>
            <a:br>
              <a:rPr lang="en-SG" dirty="0"/>
            </a:b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52CBE1-A945-4265-C028-0C20DFED2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848D6-5F5C-5534-03D2-9150953941F5}"/>
              </a:ext>
            </a:extLst>
          </p:cNvPr>
          <p:cNvSpPr/>
          <p:nvPr/>
        </p:nvSpPr>
        <p:spPr>
          <a:xfrm>
            <a:off x="839788" y="2057399"/>
            <a:ext cx="8245218" cy="44712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Similar jobs grouped into batches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No direct user interaction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Improved efficiency but lacked flexibility </a:t>
            </a:r>
            <a:endParaRPr lang="en-SG" dirty="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Used in early large computers </a:t>
            </a:r>
            <a:endParaRPr lang="en-S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910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126E1-46E6-7AE5-3785-7C525C8A0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Multiprogramming Systems (1960s)</a:t>
            </a:r>
            <a:br>
              <a:rPr lang="en-SG" dirty="0"/>
            </a:b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BFEB2-4744-752D-5724-14797B896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DC9413-E370-CC7C-9CEE-77157937BD92}"/>
              </a:ext>
            </a:extLst>
          </p:cNvPr>
          <p:cNvSpPr/>
          <p:nvPr/>
        </p:nvSpPr>
        <p:spPr>
          <a:xfrm>
            <a:off x="787399" y="2049462"/>
            <a:ext cx="8484419" cy="41055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Multiple programs stored in memory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CPU switched between programs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Reduced idle time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Introduced job scheduling </a:t>
            </a:r>
            <a:endParaRPr lang="en-S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887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BD834-B5F4-A2DC-4025-EB7E019AC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Time-Sharing Systems (1970s)</a:t>
            </a:r>
            <a:br>
              <a:rPr lang="en-SG" dirty="0"/>
            </a:b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77805-EE4F-B29D-2D78-1C5FB23D8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47D301-643D-E951-8F81-F845F6A0EF9B}"/>
              </a:ext>
            </a:extLst>
          </p:cNvPr>
          <p:cNvSpPr/>
          <p:nvPr/>
        </p:nvSpPr>
        <p:spPr>
          <a:xfrm flipH="1" flipV="1">
            <a:off x="1754186" y="2971798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809AA5-195A-6546-AB52-66C81FA87AD5}"/>
              </a:ext>
            </a:extLst>
          </p:cNvPr>
          <p:cNvSpPr/>
          <p:nvPr/>
        </p:nvSpPr>
        <p:spPr>
          <a:xfrm>
            <a:off x="839788" y="2057400"/>
            <a:ext cx="8166560" cy="434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Multiple users can use the system simultaneously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CPU time divided among users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Interactive computing became possible </a:t>
            </a:r>
            <a:endParaRPr lang="en-SG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Example: UNIX </a:t>
            </a:r>
            <a:endParaRPr lang="en-S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539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69738-7337-86D6-7675-0D3D4D00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Personal Computer OS (1980s)</a:t>
            </a:r>
            <a:br>
              <a:rPr lang="en-SG" dirty="0"/>
            </a:b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EFAFA-D769-0C1B-1659-B4A0F3050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41809-13D8-4B47-3496-996C170E4054}"/>
              </a:ext>
            </a:extLst>
          </p:cNvPr>
          <p:cNvSpPr/>
          <p:nvPr/>
        </p:nvSpPr>
        <p:spPr>
          <a:xfrm>
            <a:off x="839788" y="2057400"/>
            <a:ext cx="3932237" cy="38115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Rise of personal computers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Development of user-friendly systems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Examples: MS-DOS, early Windows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Introduction of Graphical User Interface (GUI) </a:t>
            </a:r>
            <a:endParaRPr lang="en-SG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br>
              <a:rPr lang="en-SG" b="1" dirty="0"/>
            </a:br>
            <a:endParaRPr lang="en-SG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39FD1915-9E22-DD40-E35D-810F7A3ECD9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7" r="12007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823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85E17-35FF-A221-C404-03E02B593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b="1" dirty="0"/>
              <a:t>Modern Operating Systems (1990s–Present)</a:t>
            </a:r>
            <a:br>
              <a:rPr lang="en-SG" dirty="0"/>
            </a:b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49E79-BA5A-82F4-C6CD-37C25E31B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0EF081-50F3-CABD-3A01-C1296BB2FE62}"/>
              </a:ext>
            </a:extLst>
          </p:cNvPr>
          <p:cNvSpPr/>
          <p:nvPr/>
        </p:nvSpPr>
        <p:spPr>
          <a:xfrm>
            <a:off x="839788" y="1877961"/>
            <a:ext cx="7242328" cy="43655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Advanced multitasking and security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Internet integration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Examples: </a:t>
            </a:r>
            <a:endParaRPr lang="en-SG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SG" b="1" dirty="0">
                <a:solidFill>
                  <a:schemeClr val="tx1"/>
                </a:solidFill>
              </a:rPr>
              <a:t>Windows </a:t>
            </a:r>
            <a:endParaRPr lang="en-SG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SG" b="1" dirty="0">
                <a:solidFill>
                  <a:schemeClr val="tx1"/>
                </a:solidFill>
              </a:rPr>
              <a:t>macOS </a:t>
            </a:r>
            <a:endParaRPr lang="en-SG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SG" b="1" dirty="0">
                <a:solidFill>
                  <a:schemeClr val="tx1"/>
                </a:solidFill>
              </a:rPr>
              <a:t>Linux </a:t>
            </a:r>
            <a:endParaRPr lang="en-S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715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9FDDF-8F48-48AC-2C60-105B31FE6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Mobile Operating Systems</a:t>
            </a:r>
            <a:br>
              <a:rPr lang="en-SG" dirty="0"/>
            </a:b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BADB77-22DC-6E1B-3A5D-01CAB813C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96D852-E82F-1A8C-E7BF-2101D2B33DF3}"/>
              </a:ext>
            </a:extLst>
          </p:cNvPr>
          <p:cNvSpPr/>
          <p:nvPr/>
        </p:nvSpPr>
        <p:spPr>
          <a:xfrm>
            <a:off x="839788" y="2133600"/>
            <a:ext cx="8186225" cy="41492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Growth of smartphones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Touch-based interfaces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Lightweight systems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Examples: </a:t>
            </a:r>
            <a:endParaRPr lang="en-SG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SG" b="1" dirty="0">
                <a:solidFill>
                  <a:schemeClr val="tx1"/>
                </a:solidFill>
              </a:rPr>
              <a:t>Android </a:t>
            </a:r>
          </a:p>
          <a:p>
            <a:pPr marL="742950" lvl="1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SG" b="1" dirty="0">
                <a:solidFill>
                  <a:schemeClr val="tx1"/>
                </a:solidFill>
              </a:rPr>
              <a:t>iOS</a:t>
            </a:r>
            <a:endParaRPr lang="en-S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063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1E111-37C8-A48D-9405-F098A2B67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Types of Operating Systems</a:t>
            </a:r>
            <a:br>
              <a:rPr lang="en-SG" dirty="0"/>
            </a:br>
            <a:endParaRPr lang="en-SG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2193F0D-6282-BC23-CB28-1AB22676FCB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90" b="2039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78F69-552B-B60A-51CF-F3027EB7F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5EE293-6068-D9E0-0957-0EAAD001366B}"/>
              </a:ext>
            </a:extLst>
          </p:cNvPr>
          <p:cNvSpPr/>
          <p:nvPr/>
        </p:nvSpPr>
        <p:spPr>
          <a:xfrm>
            <a:off x="839788" y="2057400"/>
            <a:ext cx="3932237" cy="38036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Batch OS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Time-sharing OS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Distributed OS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Real-time OS </a:t>
            </a:r>
            <a:endParaRPr lang="en-SG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Mobile OS</a:t>
            </a:r>
            <a:endParaRPr lang="en-S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741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52398-8ACE-F670-9E52-56B23883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Key Functions of OS</a:t>
            </a:r>
            <a:br>
              <a:rPr lang="en-SG" dirty="0"/>
            </a:b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36DB0-956D-6DC5-EDDA-8B52C7789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1B574F-BD16-32DE-C4AB-9AB46F12ADFF}"/>
              </a:ext>
            </a:extLst>
          </p:cNvPr>
          <p:cNvSpPr/>
          <p:nvPr/>
        </p:nvSpPr>
        <p:spPr>
          <a:xfrm>
            <a:off x="839787" y="2049462"/>
            <a:ext cx="7429141" cy="42038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Process Management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Memory Management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File System Management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Device Management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Security and Protection </a:t>
            </a:r>
            <a:endParaRPr lang="en-SG" dirty="0">
              <a:solidFill>
                <a:schemeClr val="tx1"/>
              </a:solidFill>
            </a:endParaRPr>
          </a:p>
          <a:p>
            <a:br>
              <a:rPr lang="en-SG" b="1" dirty="0"/>
            </a:b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86847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6C1DB-414D-5851-574C-19AADCC0B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Process Management </a:t>
            </a:r>
            <a:br>
              <a:rPr lang="en-SG" dirty="0"/>
            </a:b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DA2CEE-FEF6-E524-421E-466973AFC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4FC5C0-252E-14F0-273D-F05DEF75A231}"/>
              </a:ext>
            </a:extLst>
          </p:cNvPr>
          <p:cNvSpPr/>
          <p:nvPr/>
        </p:nvSpPr>
        <p:spPr>
          <a:xfrm>
            <a:off x="839788" y="2057400"/>
            <a:ext cx="7556960" cy="434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Memory Management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File System Management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Device Management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Security and Protection </a:t>
            </a:r>
            <a:endParaRPr lang="en-SG" dirty="0">
              <a:solidFill>
                <a:schemeClr val="tx1"/>
              </a:solidFill>
            </a:endParaRPr>
          </a:p>
          <a:p>
            <a:br>
              <a:rPr lang="en-SG" b="1" dirty="0"/>
            </a:b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58196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2B5BA-90E6-F428-3B4C-DCF9EAA62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Importance of OS</a:t>
            </a:r>
            <a:br>
              <a:rPr lang="en-SG" dirty="0"/>
            </a:br>
            <a:endParaRPr lang="en-SG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FF1BD9C-4C6D-7FF1-6442-266158E5AA7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23BE9-46B7-FBE8-4AC0-6DDCD63FA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6BBE37-AF6C-3131-343C-E8D0FC50C84B}"/>
              </a:ext>
            </a:extLst>
          </p:cNvPr>
          <p:cNvSpPr/>
          <p:nvPr/>
        </p:nvSpPr>
        <p:spPr>
          <a:xfrm>
            <a:off x="839788" y="2057400"/>
            <a:ext cx="3932237" cy="38115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Makes computers usable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Efficient use of hardware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Enables application software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Improves user experience </a:t>
            </a:r>
            <a:endParaRPr lang="en-SG" dirty="0">
              <a:solidFill>
                <a:schemeClr val="tx1"/>
              </a:solidFill>
            </a:endParaRPr>
          </a:p>
          <a:p>
            <a:br>
              <a:rPr lang="en-SG" b="1" dirty="0"/>
            </a:b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29619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32906-E4F0-3645-39CC-C8DDDD75D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Future of Operating Systems</a:t>
            </a:r>
            <a:br>
              <a:rPr lang="en-SG" dirty="0"/>
            </a:b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906AA-E6EF-928B-D285-809CAB8B6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CE157E-95D0-96AD-F959-A6B5CC7DA412}"/>
              </a:ext>
            </a:extLst>
          </p:cNvPr>
          <p:cNvSpPr/>
          <p:nvPr/>
        </p:nvSpPr>
        <p:spPr>
          <a:xfrm>
            <a:off x="839788" y="2057400"/>
            <a:ext cx="7969915" cy="434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Integration with Artificial Intelligence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Cloud-based operating systems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Enhanced security features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Support for IoT devices </a:t>
            </a:r>
            <a:endParaRPr lang="en-SG" dirty="0">
              <a:solidFill>
                <a:schemeClr val="tx1"/>
              </a:solidFill>
            </a:endParaRPr>
          </a:p>
          <a:p>
            <a:br>
              <a:rPr lang="en-SG" b="1" dirty="0"/>
            </a:b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07916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CC04B-1AAE-2190-A1C5-7400A4F7E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Conclusion</a:t>
            </a:r>
            <a:br>
              <a:rPr lang="en-SG" dirty="0"/>
            </a:b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E64F2-BFB1-E2EC-4A8F-B91DB0B33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DBB163-5E68-E67F-5CE6-01E44667ACAE}"/>
              </a:ext>
            </a:extLst>
          </p:cNvPr>
          <p:cNvSpPr/>
          <p:nvPr/>
        </p:nvSpPr>
        <p:spPr>
          <a:xfrm>
            <a:off x="839788" y="2049462"/>
            <a:ext cx="7065347" cy="43513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OS is essential for computer operation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It has evolved significantly over time </a:t>
            </a:r>
            <a:endParaRPr lang="en-SG" dirty="0">
              <a:solidFill>
                <a:schemeClr val="tx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chemeClr val="tx1"/>
                </a:solidFill>
              </a:rPr>
              <a:t>Future OS will be more intelligent and efficient </a:t>
            </a:r>
            <a:endParaRPr lang="en-SG" dirty="0">
              <a:solidFill>
                <a:schemeClr val="tx1"/>
              </a:solidFill>
            </a:endParaRPr>
          </a:p>
          <a:p>
            <a:br>
              <a:rPr lang="en-SG" b="1" dirty="0"/>
            </a:br>
            <a:endParaRPr lang="en-SG" dirty="0"/>
          </a:p>
          <a:p>
            <a:pPr lvl="0">
              <a:lnSpc>
                <a:spcPct val="150000"/>
              </a:lnSpc>
            </a:pPr>
            <a:endParaRPr lang="en-SG" dirty="0">
              <a:solidFill>
                <a:schemeClr val="tx1"/>
              </a:solidFill>
            </a:endParaRPr>
          </a:p>
          <a:p>
            <a:br>
              <a:rPr lang="en-SG" b="1" dirty="0"/>
            </a:b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63261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717F6-6AF7-33CF-F1AB-B39D182C3CBD}"/>
              </a:ext>
            </a:extLst>
          </p:cNvPr>
          <p:cNvSpPr/>
          <p:nvPr/>
        </p:nvSpPr>
        <p:spPr>
          <a:xfrm>
            <a:off x="4521531" y="2967335"/>
            <a:ext cx="3148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35691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406</Words>
  <Application>Microsoft Office PowerPoint</Application>
  <PresentationFormat>Widescreen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Office Theme</vt:lpstr>
      <vt:lpstr>PRESENTATION TOPIC: HISTORY OF OPERATING SYSTEM Course Title: Basic English Course Code: ICT-1211 </vt:lpstr>
      <vt:lpstr>Introduction  </vt:lpstr>
      <vt:lpstr>What is an Operating System </vt:lpstr>
      <vt:lpstr>Early Computers (Before OS) </vt:lpstr>
      <vt:lpstr>Batch Operating Systems (1950s–1960s) </vt:lpstr>
      <vt:lpstr>Multiprogramming Systems (1960s) </vt:lpstr>
      <vt:lpstr>Time-Sharing Systems (1970s) </vt:lpstr>
      <vt:lpstr>Personal Computer OS (1980s) </vt:lpstr>
      <vt:lpstr>Modern Operating Systems (1990s–Present) </vt:lpstr>
      <vt:lpstr>Mobile Operating Systems </vt:lpstr>
      <vt:lpstr>Types of Operating Systems </vt:lpstr>
      <vt:lpstr>Key Functions of OS </vt:lpstr>
      <vt:lpstr>Process Management  </vt:lpstr>
      <vt:lpstr>Importance of OS </vt:lpstr>
      <vt:lpstr>Future of Operating Systems 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sadiabintasazzad@gmail.com</dc:creator>
  <cp:lastModifiedBy>sadiabintasazzad@gmail.com</cp:lastModifiedBy>
  <cp:revision>7</cp:revision>
  <dcterms:created xsi:type="dcterms:W3CDTF">2026-04-30T18:22:11Z</dcterms:created>
  <dcterms:modified xsi:type="dcterms:W3CDTF">2026-05-01T13:57:22Z</dcterms:modified>
</cp:coreProperties>
</file>